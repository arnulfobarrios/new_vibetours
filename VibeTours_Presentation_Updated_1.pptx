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1773936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3172968"/>
            <a:ext cx="8531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Inter"/>
              </a:defRPr>
            </a:pPr>
            <a:r>
              <a:t>VibeTours.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9592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8B8B8"/>
                </a:solidFill>
                <a:latin typeface="Inter"/>
              </a:defRPr>
            </a:pPr>
            <a:r>
              <a:t>Planifica, crea y comparte experiencias impulsadas por Inteligencia Artificial.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507992"/>
            <a:ext cx="3959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7AFF"/>
                </a:solidFill>
                <a:latin typeface="Inter"/>
              </a:defRPr>
            </a:pPr>
            <a:r>
              <a:t>Apple Intelligence Standard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El recorrido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FF"/>
                </a:solidFill>
                <a:latin typeface="Inter"/>
              </a:defRPr>
            </a:pPr>
            <a:r>
              <a:t>CÓMO FUNCIONA VIBETOURS</a:t>
            </a:r>
          </a:p>
        </p:txBody>
      </p:sp>
      <p:pic>
        <p:nvPicPr>
          <p:cNvPr id="5" name="Picture 4" descr="mockup_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16" y="889000"/>
            <a:ext cx="1606509" cy="2921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90495" y="3937000"/>
            <a:ext cx="1904952" cy="1143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1935" y="3982720"/>
            <a:ext cx="1722072" cy="1051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Ingreso Seguro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Inicia sesión con Google, Correo o accede directo mediante el Modo Demo sin registros.</a:t>
            </a:r>
          </a:p>
        </p:txBody>
      </p:sp>
      <p:pic>
        <p:nvPicPr>
          <p:cNvPr id="8" name="Picture 7" descr="mockup_2_chat_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4668" y="2476500"/>
            <a:ext cx="1606509" cy="2921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095447" y="1270000"/>
            <a:ext cx="1904952" cy="1143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6887" y="1315720"/>
            <a:ext cx="1722072" cy="1051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Crear Tour (Manual / IA)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Planifica manual o usa el asistente de IA dictando tus preferencias con micrófono por voz.</a:t>
            </a:r>
          </a:p>
        </p:txBody>
      </p:sp>
      <p:pic>
        <p:nvPicPr>
          <p:cNvPr id="11" name="Picture 10" descr="mockup_3_publi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621" y="889000"/>
            <a:ext cx="1606509" cy="2921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00400" y="3937000"/>
            <a:ext cx="1904952" cy="1143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1840" y="3982720"/>
            <a:ext cx="1722072" cy="1051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Publicar en Catálogo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Los tours IA se guardan como borradores temporales y pasan a moderación antes de publicarse.</a:t>
            </a:r>
          </a:p>
        </p:txBody>
      </p:sp>
      <p:pic>
        <p:nvPicPr>
          <p:cNvPr id="14" name="Picture 13" descr="mockup_4_repor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4573" y="2476500"/>
            <a:ext cx="1606509" cy="2921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905352" y="1270000"/>
            <a:ext cx="1904952" cy="1143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6792" y="1315720"/>
            <a:ext cx="1722072" cy="1051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Reportar Contenido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Filtro de seguridad. Reporta spam, contenido inapropiado o rutas peligrosas para moderación.</a:t>
            </a:r>
          </a:p>
        </p:txBody>
      </p:sp>
      <p:pic>
        <p:nvPicPr>
          <p:cNvPr id="17" name="Picture 16" descr="mockup_5_pq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9525" y="889000"/>
            <a:ext cx="1606509" cy="2921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810304" y="3937000"/>
            <a:ext cx="1904952" cy="1143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1744" y="3982720"/>
            <a:ext cx="1722072" cy="1051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Centro PQRS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Soporte integrado en Supabase. Envía quejas o peticiones con respuesta en menos de 24h.</a:t>
            </a:r>
          </a:p>
        </p:txBody>
      </p:sp>
      <p:pic>
        <p:nvPicPr>
          <p:cNvPr id="20" name="Picture 19" descr="mockup_6_perf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4478" y="2476500"/>
            <a:ext cx="1606509" cy="2921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715257" y="1270000"/>
            <a:ext cx="1904952" cy="1143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6697" y="1315720"/>
            <a:ext cx="1722072" cy="10515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Inter"/>
              </a:defRPr>
            </a:pPr>
            <a:r>
              <a:t>Eliminación de Cuenta</a:t>
            </a:r>
          </a:p>
          <a:p>
            <a:pPr>
              <a:defRPr sz="950">
                <a:solidFill>
                  <a:srgbClr val="B8B8B8"/>
                </a:solidFill>
                <a:latin typeface="Inter"/>
              </a:defRPr>
            </a:pPr>
            <a:r>
              <a:t>Garantía de privacidad. Controla tu cuenta, cierra sesión o elimina tu perfil permanentemente.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"/>
              </a:defRPr>
            </a:pPr>
            <a:r>
              <a:t>Estado actual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AFF"/>
                </a:solidFill>
                <a:latin typeface="Inter"/>
              </a:defRPr>
            </a:pPr>
            <a:r>
              <a:t>ESTRUCTURA DE LÍMITES Y CAPA DE INTEGRACIÓN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987" y="1270000"/>
            <a:ext cx="3301917" cy="2159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0867" y="1526032"/>
            <a:ext cx="25399" cy="25400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595" y="14711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Límite Demo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867" y="2092960"/>
            <a:ext cx="2936157" cy="124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Los usuarios invitados sin cuenta tienen un límite estricto de 2 generaciones de tours con IA. Al agotar el cupo de demostración local, el sistema solicita registrarse o iniciar sesión para continuar usando el planificador inteligente.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987" y="3619500"/>
            <a:ext cx="3301917" cy="2159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0867" y="3875532"/>
            <a:ext cx="25399" cy="25400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595" y="38206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Dependencias de Mapas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867" y="4442460"/>
            <a:ext cx="2936157" cy="124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La cartografía y geocodificación se apoya en proveedores de fuentes abiertas: OpenStreetMap (OSM) para mapas, Photon y Nominatim para búsquedas de lugares, y Overpass API. Posee un mecanismo de contingencia para fallback automático.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3898" y="1270000"/>
            <a:ext cx="3301917" cy="2159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46778" y="1526032"/>
            <a:ext cx="25399" cy="254000"/>
          </a:xfrm>
          <a:prstGeom prst="round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6506" y="14711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Moderación de Tours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6778" y="2092960"/>
            <a:ext cx="2936157" cy="124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Los tours creados mediante IA quedan guardados como borradores privados. El administrador debe revisarlos y aprobarlos desde su panel restringido antes de que aparezcan en el catálogo público general, previniendo spam.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3898" y="3619500"/>
            <a:ext cx="3301917" cy="21590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46778" y="3875532"/>
            <a:ext cx="25399" cy="254000"/>
          </a:xfrm>
          <a:prstGeom prst="round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6506" y="3820668"/>
            <a:ext cx="293615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Acceso Administrador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6778" y="4442460"/>
            <a:ext cx="2936157" cy="124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B8B8B8"/>
                </a:solidFill>
                <a:latin typeface="Inter"/>
              </a:defRPr>
            </a:pPr>
            <a:r>
              <a:t>El panel de administración cuenta con seguridad granular. El acceso está restringido a un único ID de usuario o correo configurado estrictamente en las variables de entorno de la base de datos de Supabase, bloqueando intrusos.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19809" y="1270000"/>
            <a:ext cx="4063898" cy="450850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02689" y="1526032"/>
            <a:ext cx="25399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2417" y="1471168"/>
            <a:ext cx="369813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"/>
              </a:defRPr>
            </a:pPr>
            <a:r>
              <a:t>Tecnologías &amp; Servicios Integrados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73803" y="2032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ogo_flu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394" y="2133600"/>
            <a:ext cx="304792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73803" y="2326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Flutter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Mobile App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6774" y="2032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ogo_sup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365" y="2133600"/>
            <a:ext cx="304792" cy="304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16774" y="2326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Supabase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Auth &amp; 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59746" y="2032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_fire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337" y="2133600"/>
            <a:ext cx="304792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59746" y="2326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Firebase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Crashlytics / Push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73803" y="3047999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ogo_nodej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394" y="3149599"/>
            <a:ext cx="304792" cy="304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73803" y="3342639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NodeJS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Backend Services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16774" y="3047999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_open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365" y="3149599"/>
            <a:ext cx="304792" cy="304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016774" y="3342639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OpenAI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AI Text generation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59746" y="3047999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ogo_tomto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337" y="3149599"/>
            <a:ext cx="304792" cy="304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159746" y="3342639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TomTom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Route Calculation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73803" y="4064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_maplib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394" y="4165600"/>
            <a:ext cx="304792" cy="304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73803" y="4358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MapLibre GL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Vector Maps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16774" y="4064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16774" y="4358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Speech to Text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Dictado por Voz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59746" y="4064000"/>
            <a:ext cx="1015974" cy="889000"/>
          </a:xfrm>
          <a:prstGeom prst="roundRect">
            <a:avLst/>
          </a:prstGeom>
          <a:solidFill>
            <a:srgbClr val="0F1118"/>
          </a:solidFill>
          <a:ln w="12700">
            <a:solidFill>
              <a:srgbClr val="383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59746" y="4358640"/>
            <a:ext cx="101597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Inter"/>
              </a:defRPr>
            </a:pPr>
            <a:r>
              <a:t>Text to Speech</a:t>
            </a:r>
          </a:p>
          <a:p>
            <a:pPr algn="ctr">
              <a:defRPr sz="750">
                <a:solidFill>
                  <a:srgbClr val="B8B8B8"/>
                </a:solidFill>
                <a:latin typeface="Inter"/>
              </a:defRPr>
            </a:pPr>
            <a:r>
              <a:t>Narración de Paradas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