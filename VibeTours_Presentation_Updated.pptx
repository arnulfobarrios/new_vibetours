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976" y="1773936"/>
            <a:ext cx="1143000" cy="114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3172968"/>
            <a:ext cx="85313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  <a:latin typeface="Inter"/>
              </a:defRPr>
            </a:pPr>
            <a:r>
              <a:t>VibeTours.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95928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B8B8B8"/>
                </a:solidFill>
                <a:latin typeface="Inter"/>
              </a:defRPr>
            </a:pPr>
            <a:r>
              <a:t>Planifica, crea y comparte experiencias impulsadas por Inteligencia Artificial.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4507992"/>
            <a:ext cx="3959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07AFF"/>
                </a:solidFill>
                <a:latin typeface="Inter"/>
              </a:defRPr>
            </a:pPr>
            <a:r>
              <a:t>Apple Intelligence Standard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Inter"/>
              </a:defRPr>
            </a:pPr>
            <a:r>
              <a:t>El recorrido del usuario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FF"/>
                </a:solidFill>
                <a:latin typeface="Inter"/>
              </a:defRPr>
            </a:pPr>
            <a:r>
              <a:t>CÓMO FUNCIONA VIBETOURS</a:t>
            </a:r>
          </a:p>
        </p:txBody>
      </p:sp>
      <p:pic>
        <p:nvPicPr>
          <p:cNvPr id="5" name="Picture 4" descr="mockup_1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488" y="380999"/>
            <a:ext cx="1396965" cy="2540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53993" y="3429000"/>
            <a:ext cx="1777955" cy="1016000"/>
          </a:xfrm>
          <a:prstGeom prst="roundRect">
            <a:avLst/>
          </a:prstGeom>
          <a:solidFill>
            <a:srgbClr val="1C1C1E"/>
          </a:solidFill>
          <a:ln w="1905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5433" y="3474720"/>
            <a:ext cx="1595075" cy="9245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Ingreso Seguro</a:t>
            </a:r>
          </a:p>
          <a:p>
            <a:pPr>
              <a:defRPr sz="950">
                <a:solidFill>
                  <a:srgbClr val="B8B8B8"/>
                </a:solidFill>
                <a:latin typeface="Inter"/>
              </a:defRPr>
            </a:pPr>
            <a:r>
              <a:t>Inicia sesión con Google, Correo o accede directo mediante el Modo Demo sin registros.</a:t>
            </a:r>
          </a:p>
        </p:txBody>
      </p:sp>
      <p:pic>
        <p:nvPicPr>
          <p:cNvPr id="8" name="Picture 7" descr="mockup_2_chat_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9440" y="2349500"/>
            <a:ext cx="1396965" cy="2540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158945" y="1206500"/>
            <a:ext cx="1777955" cy="1016000"/>
          </a:xfrm>
          <a:prstGeom prst="roundRect">
            <a:avLst/>
          </a:prstGeom>
          <a:solidFill>
            <a:srgbClr val="1C1C1E"/>
          </a:solidFill>
          <a:ln w="1905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50385" y="1252220"/>
            <a:ext cx="1595075" cy="9245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Crear Tour (Manual / IA)</a:t>
            </a:r>
          </a:p>
          <a:p>
            <a:pPr>
              <a:defRPr sz="950">
                <a:solidFill>
                  <a:srgbClr val="B8B8B8"/>
                </a:solidFill>
                <a:latin typeface="Inter"/>
              </a:defRPr>
            </a:pPr>
            <a:r>
              <a:t>Planifica manual o usa el asistente de IA dictando tus preferencias con micrófono por voz.</a:t>
            </a:r>
          </a:p>
        </p:txBody>
      </p:sp>
      <p:pic>
        <p:nvPicPr>
          <p:cNvPr id="11" name="Picture 10" descr="mockup_3_public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4393" y="380999"/>
            <a:ext cx="1396965" cy="25400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063898" y="3429000"/>
            <a:ext cx="1777955" cy="1016000"/>
          </a:xfrm>
          <a:prstGeom prst="roundRect">
            <a:avLst/>
          </a:prstGeom>
          <a:solidFill>
            <a:srgbClr val="1C1C1E"/>
          </a:solidFill>
          <a:ln w="1905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55338" y="3474720"/>
            <a:ext cx="1595075" cy="9245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Publicar en Catálogo</a:t>
            </a:r>
          </a:p>
          <a:p>
            <a:pPr>
              <a:defRPr sz="950">
                <a:solidFill>
                  <a:srgbClr val="B8B8B8"/>
                </a:solidFill>
                <a:latin typeface="Inter"/>
              </a:defRPr>
            </a:pPr>
            <a:r>
              <a:t>Los tours IA se guardan como borradores temporales y pasan a moderación antes de publicarse.</a:t>
            </a:r>
          </a:p>
        </p:txBody>
      </p:sp>
      <p:pic>
        <p:nvPicPr>
          <p:cNvPr id="14" name="Picture 13" descr="mockup_4_repor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9345" y="2349500"/>
            <a:ext cx="1396965" cy="25400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968850" y="1206500"/>
            <a:ext cx="1777955" cy="1016000"/>
          </a:xfrm>
          <a:prstGeom prst="roundRect">
            <a:avLst/>
          </a:prstGeom>
          <a:solidFill>
            <a:srgbClr val="1C1C1E"/>
          </a:solidFill>
          <a:ln w="1905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60290" y="1252220"/>
            <a:ext cx="1595075" cy="9245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Reportar Contenido</a:t>
            </a:r>
          </a:p>
          <a:p>
            <a:pPr>
              <a:defRPr sz="950">
                <a:solidFill>
                  <a:srgbClr val="B8B8B8"/>
                </a:solidFill>
                <a:latin typeface="Inter"/>
              </a:defRPr>
            </a:pPr>
            <a:r>
              <a:t>Filtro de seguridad. Reporta spam, contenido inapropiado o rutas peligrosas para moderación.</a:t>
            </a:r>
          </a:p>
        </p:txBody>
      </p:sp>
      <p:pic>
        <p:nvPicPr>
          <p:cNvPr id="17" name="Picture 16" descr="mockup_5_pq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4297" y="380999"/>
            <a:ext cx="1396965" cy="25400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7873802" y="3429000"/>
            <a:ext cx="1777955" cy="1016000"/>
          </a:xfrm>
          <a:prstGeom prst="roundRect">
            <a:avLst/>
          </a:prstGeom>
          <a:solidFill>
            <a:srgbClr val="1C1C1E"/>
          </a:solidFill>
          <a:ln w="1905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65242" y="3474720"/>
            <a:ext cx="1595075" cy="9245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Centro PQRS</a:t>
            </a:r>
          </a:p>
          <a:p>
            <a:pPr>
              <a:defRPr sz="950">
                <a:solidFill>
                  <a:srgbClr val="B8B8B8"/>
                </a:solidFill>
                <a:latin typeface="Inter"/>
              </a:defRPr>
            </a:pPr>
            <a:r>
              <a:t>Soporte integrado en Supabase. Envía quejas o peticiones con respuesta en menos de 24h.</a:t>
            </a:r>
          </a:p>
        </p:txBody>
      </p:sp>
      <p:pic>
        <p:nvPicPr>
          <p:cNvPr id="20" name="Picture 19" descr="mockup_6_perfi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69250" y="2349500"/>
            <a:ext cx="1396965" cy="25400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9778755" y="1206500"/>
            <a:ext cx="1777955" cy="1016000"/>
          </a:xfrm>
          <a:prstGeom prst="roundRect">
            <a:avLst/>
          </a:prstGeom>
          <a:solidFill>
            <a:srgbClr val="1C1C1E"/>
          </a:solidFill>
          <a:ln w="1905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0195" y="1252220"/>
            <a:ext cx="1595075" cy="9245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Eliminación de Cuenta</a:t>
            </a:r>
          </a:p>
          <a:p>
            <a:pPr>
              <a:defRPr sz="950">
                <a:solidFill>
                  <a:srgbClr val="B8B8B8"/>
                </a:solidFill>
                <a:latin typeface="Inter"/>
              </a:defRPr>
            </a:pPr>
            <a:r>
              <a:t>Garantía de privacidad. Controla tu cuenta, cierra sesión o elimina tu perfil permanentemente.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Inter"/>
              </a:defRPr>
            </a:pPr>
            <a:r>
              <a:t>Estado actual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FF"/>
                </a:solidFill>
                <a:latin typeface="Inter"/>
              </a:defRPr>
            </a:pPr>
            <a:r>
              <a:t>ESTRUCTURA DE LÍMITES Y CAPA DE INTEGRACIÓN TÉCNICA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7987" y="1270000"/>
            <a:ext cx="3301917" cy="1968500"/>
          </a:xfrm>
          <a:prstGeom prst="roundRect">
            <a:avLst/>
          </a:prstGeom>
          <a:solidFill>
            <a:srgbClr val="1C1C1E"/>
          </a:solidFill>
          <a:ln w="1905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90867" y="1526032"/>
            <a:ext cx="25399" cy="254000"/>
          </a:xfrm>
          <a:prstGeom prst="roundRect">
            <a:avLst/>
          </a:prstGeom>
          <a:solidFill>
            <a:srgbClr val="AF5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595" y="1471168"/>
            <a:ext cx="293615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Inter"/>
              </a:defRPr>
            </a:pPr>
            <a:r>
              <a:t>Límite Demo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867" y="2092960"/>
            <a:ext cx="2936157" cy="1054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50">
                <a:solidFill>
                  <a:srgbClr val="B8B8B8"/>
                </a:solidFill>
                <a:latin typeface="Inter"/>
              </a:defRPr>
            </a:pPr>
            <a:r>
              <a:t>Los usuarios invitados sin cuenta tienen un límite estricto de 2 generaciones de tours con IA. Al agotar el cupo de demostración local, el sistema solicita registrarse o iniciar sesión para continuar usando el planificador inteligente.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987" y="3492500"/>
            <a:ext cx="3301917" cy="1968500"/>
          </a:xfrm>
          <a:prstGeom prst="roundRect">
            <a:avLst/>
          </a:prstGeom>
          <a:solidFill>
            <a:srgbClr val="1C1C1E"/>
          </a:solidFill>
          <a:ln w="1905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0867" y="3748532"/>
            <a:ext cx="25399" cy="254000"/>
          </a:xfrm>
          <a:prstGeom prst="round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595" y="3693668"/>
            <a:ext cx="293615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Inter"/>
              </a:defRPr>
            </a:pPr>
            <a:r>
              <a:t>Dependencias de Mapas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867" y="4315460"/>
            <a:ext cx="2936157" cy="1054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50">
                <a:solidFill>
                  <a:srgbClr val="B8B8B8"/>
                </a:solidFill>
                <a:latin typeface="Inter"/>
              </a:defRPr>
            </a:pPr>
            <a:r>
              <a:t>La cartografía y geocodificación se apoya en proveedores de fuentes abiertas: OpenStreetMap (OSM) para mapas, Photon y Nominatim para búsquedas de lugares, y Overpass API. Posee un mecanismo de contingencia para fallback automático.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3898" y="1270000"/>
            <a:ext cx="3301917" cy="1968500"/>
          </a:xfrm>
          <a:prstGeom prst="roundRect">
            <a:avLst/>
          </a:prstGeom>
          <a:solidFill>
            <a:srgbClr val="1C1C1E"/>
          </a:solidFill>
          <a:ln w="1905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46778" y="1526032"/>
            <a:ext cx="25399" cy="254000"/>
          </a:xfrm>
          <a:prstGeom prst="round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6506" y="1471168"/>
            <a:ext cx="293615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Inter"/>
              </a:defRPr>
            </a:pPr>
            <a:r>
              <a:t>Moderación de Tours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46778" y="2092960"/>
            <a:ext cx="2936157" cy="1054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50">
                <a:solidFill>
                  <a:srgbClr val="B8B8B8"/>
                </a:solidFill>
                <a:latin typeface="Inter"/>
              </a:defRPr>
            </a:pPr>
            <a:r>
              <a:t>Los tours creados mediante IA quedan guardados como borradores privados. El administrador debe revisarlos y aprobarlos desde su panel restringido antes de que aparezcan en el catálogo público general, previniendo spam.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63898" y="3492500"/>
            <a:ext cx="3301917" cy="1968500"/>
          </a:xfrm>
          <a:prstGeom prst="roundRect">
            <a:avLst/>
          </a:prstGeom>
          <a:solidFill>
            <a:srgbClr val="1C1C1E"/>
          </a:solidFill>
          <a:ln w="1905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46778" y="3748532"/>
            <a:ext cx="25399" cy="254000"/>
          </a:xfrm>
          <a:prstGeom prst="roundRect">
            <a:avLst/>
          </a:prstGeom>
          <a:solidFill>
            <a:srgbClr val="AF5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56506" y="3693668"/>
            <a:ext cx="293615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Inter"/>
              </a:defRPr>
            </a:pPr>
            <a:r>
              <a:t>Acceso Administrador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46778" y="4315460"/>
            <a:ext cx="2936157" cy="1054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50">
                <a:solidFill>
                  <a:srgbClr val="B8B8B8"/>
                </a:solidFill>
                <a:latin typeface="Inter"/>
              </a:defRPr>
            </a:pPr>
            <a:r>
              <a:t>El panel de administración cuenta con seguridad granular. El acceso está restringido a un único ID de usuario o correo configurado estrictamente en las variables de entorno de la base de datos de Supabase, bloqueando intrusos.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19809" y="1270000"/>
            <a:ext cx="4063898" cy="4191000"/>
          </a:xfrm>
          <a:prstGeom prst="roundRect">
            <a:avLst/>
          </a:prstGeom>
          <a:solidFill>
            <a:srgbClr val="1C1C1E"/>
          </a:solidFill>
          <a:ln w="1905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802689" y="1526032"/>
            <a:ext cx="25399" cy="25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12417" y="1471168"/>
            <a:ext cx="3698138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Inter"/>
              </a:defRPr>
            </a:pPr>
            <a:r>
              <a:t>Tecnologías &amp; Servicios Integrados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73803" y="2032000"/>
            <a:ext cx="1015974" cy="889000"/>
          </a:xfrm>
          <a:prstGeom prst="roundRect">
            <a:avLst/>
          </a:prstGeom>
          <a:solidFill>
            <a:srgbClr val="0F1118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logo_flu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394" y="2133600"/>
            <a:ext cx="304792" cy="304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873803" y="2326640"/>
            <a:ext cx="101597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Inter"/>
              </a:defRPr>
            </a:pPr>
            <a:r>
              <a:t>Flutter</a:t>
            </a:r>
          </a:p>
          <a:p>
            <a:pPr algn="ctr">
              <a:defRPr sz="750">
                <a:solidFill>
                  <a:srgbClr val="B8B8B8"/>
                </a:solidFill>
                <a:latin typeface="Inter"/>
              </a:defRPr>
            </a:pPr>
            <a:r>
              <a:t>Mobile App UI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16774" y="2032000"/>
            <a:ext cx="1015974" cy="889000"/>
          </a:xfrm>
          <a:prstGeom prst="roundRect">
            <a:avLst/>
          </a:prstGeom>
          <a:solidFill>
            <a:srgbClr val="0F1118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logo_sup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365" y="2133600"/>
            <a:ext cx="304792" cy="3048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016774" y="2326640"/>
            <a:ext cx="101597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Inter"/>
              </a:defRPr>
            </a:pPr>
            <a:r>
              <a:t>Supabase</a:t>
            </a:r>
          </a:p>
          <a:p>
            <a:pPr algn="ctr">
              <a:defRPr sz="750">
                <a:solidFill>
                  <a:srgbClr val="B8B8B8"/>
                </a:solidFill>
                <a:latin typeface="Inter"/>
              </a:defRPr>
            </a:pPr>
            <a:r>
              <a:t>Auth &amp; Database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59746" y="2032000"/>
            <a:ext cx="1015974" cy="889000"/>
          </a:xfrm>
          <a:prstGeom prst="roundRect">
            <a:avLst/>
          </a:prstGeom>
          <a:solidFill>
            <a:srgbClr val="0F1118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_fire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337" y="2133600"/>
            <a:ext cx="304792" cy="304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159746" y="2326640"/>
            <a:ext cx="101597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Inter"/>
              </a:defRPr>
            </a:pPr>
            <a:r>
              <a:t>Firebase</a:t>
            </a:r>
          </a:p>
          <a:p>
            <a:pPr algn="ctr">
              <a:defRPr sz="750">
                <a:solidFill>
                  <a:srgbClr val="B8B8B8"/>
                </a:solidFill>
                <a:latin typeface="Inter"/>
              </a:defRPr>
            </a:pPr>
            <a:r>
              <a:t>Crashlytics / Push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73803" y="3047999"/>
            <a:ext cx="1015974" cy="889000"/>
          </a:xfrm>
          <a:prstGeom prst="roundRect">
            <a:avLst/>
          </a:prstGeom>
          <a:solidFill>
            <a:srgbClr val="0F1118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ogo_nodej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394" y="3149599"/>
            <a:ext cx="304792" cy="3048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873803" y="3342639"/>
            <a:ext cx="101597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Inter"/>
              </a:defRPr>
            </a:pPr>
            <a:r>
              <a:t>NodeJS</a:t>
            </a:r>
          </a:p>
          <a:p>
            <a:pPr algn="ctr">
              <a:defRPr sz="750">
                <a:solidFill>
                  <a:srgbClr val="B8B8B8"/>
                </a:solidFill>
                <a:latin typeface="Inter"/>
              </a:defRPr>
            </a:pPr>
            <a:r>
              <a:t>Backend Services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16774" y="3047999"/>
            <a:ext cx="1015974" cy="889000"/>
          </a:xfrm>
          <a:prstGeom prst="roundRect">
            <a:avLst/>
          </a:prstGeom>
          <a:solidFill>
            <a:srgbClr val="0F1118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_opena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365" y="3149599"/>
            <a:ext cx="304792" cy="3048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016774" y="3342639"/>
            <a:ext cx="101597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Inter"/>
              </a:defRPr>
            </a:pPr>
            <a:r>
              <a:t>OpenAI</a:t>
            </a:r>
          </a:p>
          <a:p>
            <a:pPr algn="ctr">
              <a:defRPr sz="750">
                <a:solidFill>
                  <a:srgbClr val="B8B8B8"/>
                </a:solidFill>
                <a:latin typeface="Inter"/>
              </a:defRPr>
            </a:pPr>
            <a:r>
              <a:t>AI Text generation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159746" y="3047999"/>
            <a:ext cx="1015974" cy="889000"/>
          </a:xfrm>
          <a:prstGeom prst="roundRect">
            <a:avLst/>
          </a:prstGeom>
          <a:solidFill>
            <a:srgbClr val="0F1118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logo_tomto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15337" y="3149599"/>
            <a:ext cx="304792" cy="3048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159746" y="3342639"/>
            <a:ext cx="101597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Inter"/>
              </a:defRPr>
            </a:pPr>
            <a:r>
              <a:t>TomTom</a:t>
            </a:r>
          </a:p>
          <a:p>
            <a:pPr algn="ctr">
              <a:defRPr sz="750">
                <a:solidFill>
                  <a:srgbClr val="B8B8B8"/>
                </a:solidFill>
                <a:latin typeface="Inter"/>
              </a:defRPr>
            </a:pPr>
            <a:r>
              <a:t>Route Calculation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73803" y="4064000"/>
            <a:ext cx="1015974" cy="889000"/>
          </a:xfrm>
          <a:prstGeom prst="roundRect">
            <a:avLst/>
          </a:prstGeom>
          <a:solidFill>
            <a:srgbClr val="0F1118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_maplibr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394" y="4165600"/>
            <a:ext cx="304792" cy="3048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873803" y="4358640"/>
            <a:ext cx="101597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Inter"/>
              </a:defRPr>
            </a:pPr>
            <a:r>
              <a:t>MapLibre GL</a:t>
            </a:r>
          </a:p>
          <a:p>
            <a:pPr algn="ctr">
              <a:defRPr sz="750">
                <a:solidFill>
                  <a:srgbClr val="B8B8B8"/>
                </a:solidFill>
                <a:latin typeface="Inter"/>
              </a:defRPr>
            </a:pPr>
            <a:r>
              <a:t>Vector Maps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16774" y="4064000"/>
            <a:ext cx="1015974" cy="889000"/>
          </a:xfrm>
          <a:prstGeom prst="roundRect">
            <a:avLst/>
          </a:prstGeom>
          <a:solidFill>
            <a:srgbClr val="0F1118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16774" y="4358640"/>
            <a:ext cx="101597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Inter"/>
              </a:defRPr>
            </a:pPr>
            <a:r>
              <a:t>Speech to Text</a:t>
            </a:r>
          </a:p>
          <a:p>
            <a:pPr algn="ctr">
              <a:defRPr sz="750">
                <a:solidFill>
                  <a:srgbClr val="B8B8B8"/>
                </a:solidFill>
                <a:latin typeface="Inter"/>
              </a:defRPr>
            </a:pPr>
            <a:r>
              <a:t>Dictado por Voz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159746" y="4064000"/>
            <a:ext cx="1015974" cy="889000"/>
          </a:xfrm>
          <a:prstGeom prst="roundRect">
            <a:avLst/>
          </a:prstGeom>
          <a:solidFill>
            <a:srgbClr val="0F1118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159746" y="4358640"/>
            <a:ext cx="101597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Inter"/>
              </a:defRPr>
            </a:pPr>
            <a:r>
              <a:t>Text to Speech</a:t>
            </a:r>
          </a:p>
          <a:p>
            <a:pPr algn="ctr">
              <a:defRPr sz="750">
                <a:solidFill>
                  <a:srgbClr val="B8B8B8"/>
                </a:solidFill>
                <a:latin typeface="Inter"/>
              </a:defRPr>
            </a:pPr>
            <a:r>
              <a:t>Narración de Paradas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