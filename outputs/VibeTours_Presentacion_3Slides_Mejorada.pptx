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d112245c36436f" /><Relationship Type="http://schemas.openxmlformats.org/officeDocument/2006/relationships/extended-properties" Target="/docProps/app.xml" Id="R856ee35a49de4004" /><Relationship Type="http://schemas.openxmlformats.org/officeDocument/2006/relationships/officeDocument" Target="/ppt/presentation.xml" Id="Ra6563297b2a048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c956ef574b4dbe"/>
  </p:sldMasterIdLst>
  <p:notesMasterIdLst>
    <p:notesMasterId xmlns:r="http://schemas.openxmlformats.org/officeDocument/2006/relationships" r:id="R9289ee354bb24e3c"/>
  </p:notesMasterIdLst>
  <p:sldIdLst>
    <p:sldId xmlns:r="http://schemas.openxmlformats.org/officeDocument/2006/relationships" id="256" r:id="R75be19a2b24e4ab8"/>
    <p:sldId xmlns:r="http://schemas.openxmlformats.org/officeDocument/2006/relationships" id="257" r:id="Ra997aed120e6467a"/>
    <p:sldId xmlns:r="http://schemas.openxmlformats.org/officeDocument/2006/relationships" id="258" r:id="R3ce65086b2a742b5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73ae8b117e4cbe" /><Relationship Type="http://schemas.openxmlformats.org/officeDocument/2006/relationships/slideMaster" Target="/ppt/slideMasters/slideMaster1.xml" Id="R09c956ef574b4dbe" /><Relationship Type="http://schemas.openxmlformats.org/officeDocument/2006/relationships/notesMaster" Target="/ppt/notesMasters/notesMaster1.xml" Id="R9289ee354bb24e3c" /><Relationship Type="http://schemas.openxmlformats.org/officeDocument/2006/relationships/presProps" Target="/ppt/presProps.xml" Id="Re054467704a0454d" /><Relationship Type="http://schemas.openxmlformats.org/officeDocument/2006/relationships/viewProps" Target="/ppt/viewProps.xml" Id="R3e99b3a91f0744cb" /><Relationship Type="http://schemas.openxmlformats.org/officeDocument/2006/relationships/tableStyles" Target="/ppt/tableStyles.xml" Id="R411bb0822da04aa2" /><Relationship Type="http://schemas.openxmlformats.org/officeDocument/2006/relationships/slide" Target="/ppt/slides/slide1.xml" Id="R75be19a2b24e4ab8" /><Relationship Type="http://schemas.openxmlformats.org/officeDocument/2006/relationships/slide" Target="/ppt/slides/slide2.xml" Id="Ra997aed120e6467a" /><Relationship Type="http://schemas.openxmlformats.org/officeDocument/2006/relationships/slide" Target="/ppt/slides/slide3.xml" Id="R3ce65086b2a742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a3d808141b49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da716c2a9e4115" /><Relationship Type="http://schemas.openxmlformats.org/officeDocument/2006/relationships/notesMaster" Target="/ppt/notesMasters/notesMaster1.xml" Id="Rb5663a8def2b4c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4512507dac4ccf" /><Relationship Type="http://schemas.openxmlformats.org/officeDocument/2006/relationships/notesMaster" Target="/ppt/notesMasters/notesMaster1.xml" Id="Rd137b2932d7440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4b4642939246e9" /><Relationship Type="http://schemas.openxmlformats.org/officeDocument/2006/relationships/notesMaster" Target="/ppt/notesMasters/notesMaster1.xml" Id="Ra2a9881aa00943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715997be949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41fec258947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4395403294b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ed16a715d4f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fffdae07c48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b1975f336443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57a7460274e0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c2a30d22341d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5fede9df9483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63bba47324ab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c724342854c9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4BCDF7-C2F4-4D7A-826C-0FCCD6AEB0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02C2DBC-1AC4-4D4A-B32B-4FB5A2E658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B71C59-018B-4634-B9A9-1D2C238E7F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967F4B-D3CB-4920-A7AC-74ED5E21BB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81E6B4-CEB1-4349-BFA4-3984FE821C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F89247-2CC4-4A62-8C9B-6FCE90A00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227A53-AD20-47E2-96E4-69DE8C9E17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E47AC9-7AAC-4A86-A119-435BBD546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0DE98F-37C6-4C7E-A54B-1461DEB794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A101EB-51CF-4ED1-8F3C-D1AC3530FB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35977A-21C2-48F0-B62C-853AF86FFC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68C8A7-B406-4B98-9084-C70E7B0BF1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094D68-66E1-4E30-B4A4-CFE85BC81F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A54FB1-B990-4429-A0C9-FFACB75436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D95779-2CD9-4338-B624-90891F3A90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8AE499-3A36-416A-8155-69691E3AA9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DEE13F-0BE6-486C-8F1C-EFF129E4AF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42492D-1417-4FAD-8D5E-312BB4AAA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F993F9A-3D1C-411E-9E4F-1F097B7524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02DB0C2-55DB-4E36-B900-FB94C2CBE1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145543-42F5-4445-9E15-F88B6F8DE7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43618E-5103-4DBF-AFB6-E01D21211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74B7C3-D135-4E3C-8489-C6FD895DF0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5012DB1-435F-4FDA-A674-E98A0DB07E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E57F035-28CD-46EE-A011-B2775DB6B92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F992E75-2FAB-4C81-ABAC-7A29D9A64A4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E489C0A-C5BD-4C36-BF3D-7E74E4D1A1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62B0D3E-4466-4E99-BF85-CF17A91177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17EC6F0-276E-4D83-AD5A-05AFA073DC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7DA7C5-3039-41EA-A108-5491871CF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56F1D24-8D09-4F78-840D-52F9B37BBF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BBBB8B7-EDC1-4621-9FE2-707B277FB7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B11705D-E9CD-4946-8A4F-951033E5E7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23E784E-F81B-46C3-9A12-56027AF192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84A6028-4722-4925-8D0C-5578526B06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E60156A-F3E7-4978-B033-D123121013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34A86F-C1A5-4009-98B6-04F3841CB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796CBF-62E2-4160-B4A3-3981899BA1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55FBCBA-690D-4D37-94E3-3E4A770725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5BD35A8-B4C0-4A16-8023-A09A3ED235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CCE40E-F820-4FCF-8D1A-2394485FC2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06D5C7B-3AFD-4410-A166-4C22D51B67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95C935-5FD2-4419-83C8-4D8040F88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407F5DD-7163-4E9D-A0E2-4722771A337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FA0B11E-22DC-458C-8871-0407653055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3F05E0D-8604-44E6-A972-2B3E2A6282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E88F8E-D5BE-4B9C-9A14-B1B442FE21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F2AB0B1-623C-42B0-8DD5-93D63BCF2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819E61-8C07-47C2-A288-BB399AE561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6A029A-1848-4164-8C64-B224923C55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EBA133-555F-4D93-833A-BCDA158410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2F90FF-CBA0-40E9-B833-998D7706A3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7A8108-5503-4BF7-BED8-1226326FAF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3A46945-BCDE-4A0E-94A6-C435A7A2E3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B42B776-BCD2-4309-B1F3-ED0B5E1C74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57DE8C-650C-4992-85F1-4247D15E5F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A5416E-06E7-4264-859A-9B94C503ED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CEFC35-2233-458D-B56A-D5EAE2DB22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8891be5ec24491" /><Relationship Type="http://schemas.openxmlformats.org/officeDocument/2006/relationships/slideLayout" Target="/ppt/slideLayouts/slideLayout1.xml" Id="Rc6dd5b3fb98b4148" /><Relationship Type="http://schemas.openxmlformats.org/officeDocument/2006/relationships/slideLayout" Target="/ppt/slideLayouts/slideLayout2.xml" Id="R41b26dbab6b64357" /><Relationship Type="http://schemas.openxmlformats.org/officeDocument/2006/relationships/slideLayout" Target="/ppt/slideLayouts/slideLayout3.xml" Id="R4dc98f2f43774b49" /><Relationship Type="http://schemas.openxmlformats.org/officeDocument/2006/relationships/slideLayout" Target="/ppt/slideLayouts/slideLayout4.xml" Id="Rae355a275fe845b8" /><Relationship Type="http://schemas.openxmlformats.org/officeDocument/2006/relationships/slideLayout" Target="/ppt/slideLayouts/slideLayout5.xml" Id="Rbda561b9829c4710" /><Relationship Type="http://schemas.openxmlformats.org/officeDocument/2006/relationships/slideLayout" Target="/ppt/slideLayouts/slideLayout6.xml" Id="R370b7b16a9984751" /><Relationship Type="http://schemas.openxmlformats.org/officeDocument/2006/relationships/slideLayout" Target="/ppt/slideLayouts/slideLayout7.xml" Id="R235621fabb0048f0" /><Relationship Type="http://schemas.openxmlformats.org/officeDocument/2006/relationships/slideLayout" Target="/ppt/slideLayouts/slideLayout8.xml" Id="Ra4af8494f3ce4dcd" /><Relationship Type="http://schemas.openxmlformats.org/officeDocument/2006/relationships/slideLayout" Target="/ppt/slideLayouts/slideLayout9.xml" Id="Rb1dd3caf304a496d" /><Relationship Type="http://schemas.openxmlformats.org/officeDocument/2006/relationships/slideLayout" Target="/ppt/slideLayouts/slideLayout10.xml" Id="R6e6c88e60c2a4544" /><Relationship Type="http://schemas.openxmlformats.org/officeDocument/2006/relationships/slideLayout" Target="/ppt/slideLayouts/slideLayout11.xml" Id="R77a4491ed3f0487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469628-4203-49A9-BB8E-857774FA38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710B72-7910-4820-BB90-0B2D8975FF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F35511-C456-493D-8183-AF2C0D75804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D2055D-9AB5-473B-B8EE-5A0E7A67F4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CCEE14-B3C9-4BDB-9DB5-CD935C40F98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dd5b3fb98b4148"/>
    <p:sldLayoutId xmlns:r="http://schemas.openxmlformats.org/officeDocument/2006/relationships" id="2147483650" r:id="R41b26dbab6b64357"/>
    <p:sldLayoutId xmlns:r="http://schemas.openxmlformats.org/officeDocument/2006/relationships" id="2147483651" r:id="R4dc98f2f43774b49"/>
    <p:sldLayoutId xmlns:r="http://schemas.openxmlformats.org/officeDocument/2006/relationships" id="2147483652" r:id="Rae355a275fe845b8"/>
    <p:sldLayoutId xmlns:r="http://schemas.openxmlformats.org/officeDocument/2006/relationships" id="2147483653" r:id="Rbda561b9829c4710"/>
    <p:sldLayoutId xmlns:r="http://schemas.openxmlformats.org/officeDocument/2006/relationships" id="2147483654" r:id="R370b7b16a9984751"/>
    <p:sldLayoutId xmlns:r="http://schemas.openxmlformats.org/officeDocument/2006/relationships" id="2147483655" r:id="R235621fabb0048f0"/>
    <p:sldLayoutId xmlns:r="http://schemas.openxmlformats.org/officeDocument/2006/relationships" id="2147483656" r:id="Ra4af8494f3ce4dcd"/>
    <p:sldLayoutId xmlns:r="http://schemas.openxmlformats.org/officeDocument/2006/relationships" id="2147483657" r:id="Rb1dd3caf304a496d"/>
    <p:sldLayoutId xmlns:r="http://schemas.openxmlformats.org/officeDocument/2006/relationships" id="2147483658" r:id="R6e6c88e60c2a4544"/>
    <p:sldLayoutId xmlns:r="http://schemas.openxmlformats.org/officeDocument/2006/relationships" id="2147483659" r:id="R77a4491ed3f0487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ceca5bd2424468" /><Relationship Type="http://schemas.openxmlformats.org/officeDocument/2006/relationships/image" Target="/ppt/media/image.jpeg" Id="R27535679f6f94ba3" /><Relationship Type="http://schemas.openxmlformats.org/officeDocument/2006/relationships/image" Target="/ppt/media/image2.jpeg" Id="Re6a1a9998ca54430" /><Relationship Type="http://schemas.openxmlformats.org/officeDocument/2006/relationships/image" Target="/ppt/media/image3.jpeg" Id="R444a4121c03448a3" /><Relationship Type="http://schemas.openxmlformats.org/officeDocument/2006/relationships/image" Target="/ppt/media/image4.jpeg" Id="R94b3e63c38f14c93" /><Relationship Type="http://schemas.openxmlformats.org/officeDocument/2006/relationships/notesSlide" Target="/ppt/notesSlides/notesSlide1.xml" Id="R183c60bb2e2a4b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92661b713541ff" /><Relationship Type="http://schemas.openxmlformats.org/officeDocument/2006/relationships/image" Target="/ppt/media/image5.jpeg" Id="Rb71653e52b6b4156" /><Relationship Type="http://schemas.openxmlformats.org/officeDocument/2006/relationships/image" Target="/ppt/media/image6.jpeg" Id="R3614bb2ac19a4bd7" /><Relationship Type="http://schemas.openxmlformats.org/officeDocument/2006/relationships/image" Target="/ppt/media/image7.jpeg" Id="Rc86b1ed0d0224914" /><Relationship Type="http://schemas.openxmlformats.org/officeDocument/2006/relationships/image" Target="/ppt/media/image8.jpeg" Id="Reb73487d97b949ef" /><Relationship Type="http://schemas.openxmlformats.org/officeDocument/2006/relationships/image" Target="/ppt/media/image3.jpeg" Id="R418e649c0cfd44fa" /><Relationship Type="http://schemas.openxmlformats.org/officeDocument/2006/relationships/image" Target="/ppt/media/image9.jpeg" Id="R869fa8f2e5c24a53" /><Relationship Type="http://schemas.openxmlformats.org/officeDocument/2006/relationships/image" Target="/ppt/media/image10.jpeg" Id="R712409ff88204a39" /><Relationship Type="http://schemas.openxmlformats.org/officeDocument/2006/relationships/image" Target="/ppt/media/image11.jpeg" Id="R876f43c0dad847ea" /><Relationship Type="http://schemas.openxmlformats.org/officeDocument/2006/relationships/notesSlide" Target="/ppt/notesSlides/notesSlide2.xml" Id="Rbe25215fc05e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6d2e3f2df144d6" /><Relationship Type="http://schemas.openxmlformats.org/officeDocument/2006/relationships/image" Target="/ppt/media/image4.jpeg" Id="R7a4e51c0fea74f60" /><Relationship Type="http://schemas.openxmlformats.org/officeDocument/2006/relationships/image" Target="/ppt/media/image8.jpeg" Id="Rdc395518aa3a4aab" /><Relationship Type="http://schemas.openxmlformats.org/officeDocument/2006/relationships/notesSlide" Target="/ppt/notesSlides/notesSlide3.xml" Id="Rbbf803084d1f43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A1745A-144F-40BB-AE4C-8F0272E1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E6D42FA-E533-475F-9C16-9AEEFBFC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7744"/>
            <a:ext cx="1874519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BF3FF"/>
          </a:solidFill>
          <a:ln xmlns:a="http://schemas.openxmlformats.org/drawingml/2006/main" w="10160">
            <a:solidFill>
              <a:srgbClr val="EB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91381B-CD9D-472E-A1E5-74D811AF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"/>
            <a:ext cx="169163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7AFF"/>
                </a:solidFill>
                <a:latin typeface="Aptos"/>
                <a:ea typeface="Aptos"/>
                <a:cs typeface="Aptos"/>
              </a:rPr>
              <a:t>PROPUESTA DE VALOR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2957074-139B-4230-9CF0-F3FF2EC4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31520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35679f6f94b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7784" y="786384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AAF9A59-E8CD-4D30-A6A5-F6999674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694944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VibeTours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082BEAC-0765-4611-A5C2-0C1D0F2A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07899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Tu viaje, listo en una sola app.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AF46B4-2EB6-46C4-8299-BE648834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388620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Convierte preferencias de viaje en rutas personalizadas con IA, mapas y asistencia por voz.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A9B3795-8638-4BF1-8AEE-40637827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67712"/>
            <a:ext cx="3913632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A86EC6AC-3B8A-4852-8F4D-8A82BB9D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43230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900688-656D-4EB6-B110-8FD17102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377440"/>
            <a:ext cx="33649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¿Qué ofrece VibeTours?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50FD051-E67F-4CE8-A299-68F338B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660904"/>
            <a:ext cx="360273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Planificación: conversa con la IA y recibe un borrador editable.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Recorrido: mapa, paradas, GPS y narración por voz.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Operación: creador manual, PQRS y panel de administración.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2B40E20-7F45-46D7-A3C8-61B71804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94176"/>
            <a:ext cx="3913632" cy="11704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A369687-F8B6-4011-A641-E023FDF2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85876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52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C19150C-403E-48D0-A970-52D825CB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3803904"/>
            <a:ext cx="33649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¿Para quién crea valor?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2807ABD-91AE-4133-8E53-865E429E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87368"/>
            <a:ext cx="36027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Turistas que buscan rutas flexibles y personalizadas.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Guías, creadores y operadores que diseñan, moderan y dan soporte.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5B1A80B-F1B7-49C0-99A0-21678BAE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65776"/>
            <a:ext cx="1645920" cy="1722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30" b="1">
                <a:solidFill>
                  <a:srgbClr val="60667A"/>
                </a:solidFill>
                <a:latin typeface="Aptos"/>
                <a:ea typeface="Aptos"/>
                <a:cs typeface="Aptos"/>
              </a:rPr>
              <a:t>Capacidades clave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C45AB2F-9FFE-46ED-AAD9-DBCAC8FB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40096"/>
            <a:ext cx="1792224" cy="2743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BF3FF"/>
          </a:solidFill>
          <a:ln xmlns:a="http://schemas.openxmlformats.org/drawingml/2006/main" w="10160">
            <a:solidFill>
              <a:srgbClr val="EB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EF0585B-FEE8-474A-B39A-EA4FE16F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67528"/>
            <a:ext cx="16093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IA generativa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D6BF8BB6-2028-4266-89E6-B3F165C0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5340096"/>
            <a:ext cx="1792224" cy="2743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EDFC"/>
          </a:solidFill>
          <a:ln xmlns:a="http://schemas.openxmlformats.org/drawingml/2006/main" w="10160">
            <a:solidFill>
              <a:srgbClr val="F5EDF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A95E8E4-E0EC-4CC1-9AF4-1486640E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5367528"/>
            <a:ext cx="16093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AF52DE"/>
                </a:solidFill>
                <a:latin typeface="Aptos"/>
                <a:ea typeface="Aptos"/>
                <a:cs typeface="Aptos"/>
              </a:rPr>
              <a:t>Mapas interactivos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C2040468-CA3A-4E53-870F-2EE5FED6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42432"/>
            <a:ext cx="1792224" cy="2743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AF5"/>
          </a:solidFill>
          <a:ln xmlns:a="http://schemas.openxmlformats.org/drawingml/2006/main" w="10160">
            <a:solidFill>
              <a:srgbClr val="ECFA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699C10C-0D6A-4C47-8682-E8459578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69864"/>
            <a:ext cx="16093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Voz + GPS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0C5E324-5173-42CB-8AA4-46FFA1E0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5742432"/>
            <a:ext cx="1792224" cy="2743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FF7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C06A634-FE4A-4E90-AF83-D28E973B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5769864"/>
            <a:ext cx="160934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Operación + PQRS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0DEB97C-524C-4CD0-98BB-D822FF5B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4747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60667A"/>
                </a:solidFill>
                <a:latin typeface="Aptos"/>
                <a:ea typeface="Aptos"/>
                <a:cs typeface="Aptos"/>
              </a:rPr>
              <a:t>La experiencia en la app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BC32C132-5E5A-45AE-8AC2-34CE6116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731520"/>
            <a:ext cx="2267712" cy="55778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3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1a9998ca544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36008" y="841248"/>
            <a:ext cx="2048256" cy="4681728"/>
          </a:xfrm>
          <a:prstGeom xmlns:a="http://schemas.openxmlformats.org/drawingml/2006/main" prst="rect">
            <a:avLst/>
          </a:prstGeom>
        </p:spPr>
      </p:pic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A8E0384-7419-4F25-9F19-8F3BFAEC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650992"/>
            <a:ext cx="19933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Explorar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631A44B-6A6B-429C-9BE5-80DD5BC1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888736"/>
            <a:ext cx="1993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3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Inspírate con destinos y tours recomendados.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8851CA2E-E47C-4B60-AF1E-BDA86C74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731520"/>
            <a:ext cx="2267712" cy="55778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7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a4121c03448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1736" y="841248"/>
            <a:ext cx="2048256" cy="4681728"/>
          </a:xfrm>
          <a:prstGeom xmlns:a="http://schemas.openxmlformats.org/drawingml/2006/main" prst="rect">
            <a:avLst/>
          </a:prstGeom>
        </p:spPr>
      </p:pic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E48EB7B-EFFE-4EB1-BC5E-1C9297D4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5650992"/>
            <a:ext cx="19933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Tour listo para recorrer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12EF3C1-BD34-42D8-8A04-DB18599B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5888736"/>
            <a:ext cx="1993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3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Mapa, paradas, galería y ruta activa.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C33BB1CD-D4C2-4678-913A-7D6B055A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731520"/>
            <a:ext cx="2267712" cy="55778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1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3e63c38f14c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7464" y="841248"/>
            <a:ext cx="2048256" cy="4681728"/>
          </a:xfrm>
          <a:prstGeom xmlns:a="http://schemas.openxmlformats.org/drawingml/2006/main" prst="rect">
            <a:avLst/>
          </a:prstGeom>
        </p:spPr>
      </p:pic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4F71896-F79A-4A80-8AB2-5A47A9ED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5650992"/>
            <a:ext cx="19933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Perfil del viajero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77490CA-A624-4258-B14F-592241FD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5888736"/>
            <a:ext cx="1993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3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Preferencias que personalizan cada viaje.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2D88D2CE-10AE-4CD7-9CAB-EDC8C35A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6364224"/>
            <a:ext cx="6903720" cy="2560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4E37EEC6-F71E-40F4-BC1D-0102A9FB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428232"/>
            <a:ext cx="6492240" cy="131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Una sola app para inspirar, planificar, recorrer y operar experiencias turísticas.</a:t>
            </a:r>
          </a:p>
        </p:txBody>
      </p:sp>
    </p:spTree>
    <p:extLst>
      <p:ext uri="{BB962C8B-B14F-4D97-AF65-F5344CB8AC3E}">
        <p14:creationId xmlns:p14="http://schemas.microsoft.com/office/powerpoint/2010/main" val="2099874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807FAC-D6DD-42F5-B611-E6FB6886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56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F5E991C-6C07-46FD-A40D-02FAD545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7744"/>
            <a:ext cx="201168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EDFC"/>
          </a:solidFill>
          <a:ln xmlns:a="http://schemas.openxmlformats.org/drawingml/2006/main" w="10160">
            <a:solidFill>
              <a:srgbClr val="F5EDF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A2487B-B709-489F-A8B6-025634D7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AF52DE"/>
                </a:solidFill>
                <a:latin typeface="Aptos"/>
                <a:ea typeface="Aptos"/>
                <a:cs typeface="Aptos"/>
              </a:rPr>
              <a:t>EXPERIENCIA DEL PRODUCTO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70C4D7-0FE4-42A4-854F-8F820288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Del viaje ideal al tour activo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16C3086-FE48-4D22-9EF4-7E3474A1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24128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1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De preferencias a un recorrido personalizado, guiado y operable.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731B640-FFAC-4D3E-9283-E56C426C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1874519" cy="23317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653e52b6b4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572768"/>
            <a:ext cx="1691639" cy="1673352"/>
          </a:xfrm>
          <a:prstGeom xmlns:a="http://schemas.openxmlformats.org/drawingml/2006/main" prst="rect">
            <a:avLst/>
          </a:prstGeom>
        </p:spPr>
      </p:pic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79A4395-B797-4AE1-8E9B-ABB645F4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72768"/>
            <a:ext cx="420624" cy="21945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BF3FF"/>
          </a:solidFill>
          <a:ln xmlns:a="http://schemas.openxmlformats.org/drawingml/2006/main" w="10160">
            <a:solidFill>
              <a:srgbClr val="EB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B9E25C2-ABCB-45CB-A1E4-2503C65E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377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3EFB962-A1CC-46E9-92E8-2FDF8B2F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00984"/>
            <a:ext cx="1691639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Perfil del viaje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DE38B59-CE03-455E-B555-21472F19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02152"/>
            <a:ext cx="16916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Define viajero, intereses, presupuesto y ritmo.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1005BDB-8B34-4539-9393-78BBC97C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1481328"/>
            <a:ext cx="1874519" cy="23317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4bb2ac19a4b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4328" y="1572768"/>
            <a:ext cx="1691639" cy="1673352"/>
          </a:xfrm>
          <a:prstGeom xmlns:a="http://schemas.openxmlformats.org/drawingml/2006/main" prst="rect">
            <a:avLst/>
          </a:prstGeom>
        </p:spPr>
      </p:pic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D900F77-04FE-4D6F-8374-A7900C2A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1572768"/>
            <a:ext cx="420624" cy="21945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BF3FF"/>
          </a:solidFill>
          <a:ln xmlns:a="http://schemas.openxmlformats.org/drawingml/2006/main" w="10160">
            <a:solidFill>
              <a:srgbClr val="EB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0FA5779-64F3-459A-B82C-5FC3783B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1600200"/>
            <a:ext cx="2377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8A70C28-7BCE-4411-B1C7-BCB35F91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3300984"/>
            <a:ext cx="1691639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Conversación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A1BC9F8-59D3-4A37-B663-A36333CA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3502152"/>
            <a:ext cx="16916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Describe el viaje ideal en lenguaje natural.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8D371B9-1E26-445E-AB2D-3A72E23C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1481328"/>
            <a:ext cx="1755648" cy="23317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9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b1ed0d02249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54296" y="1572768"/>
            <a:ext cx="1572768" cy="1673352"/>
          </a:xfrm>
          <a:prstGeom xmlns:a="http://schemas.openxmlformats.org/drawingml/2006/main" prst="rect">
            <a:avLst/>
          </a:prstGeom>
        </p:spPr>
      </p:pic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6CBD169-3E46-410B-AE82-8D711061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1572768"/>
            <a:ext cx="420624" cy="21945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BF3FF"/>
          </a:solidFill>
          <a:ln xmlns:a="http://schemas.openxmlformats.org/drawingml/2006/main" w="10160">
            <a:solidFill>
              <a:srgbClr val="EB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7E365F-8C12-477E-86FB-3168727D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600200"/>
            <a:ext cx="2377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7C79993-1D5F-44A1-8C5B-CF55D06E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300984"/>
            <a:ext cx="15727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Borrador con IA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38C7D80-DA5B-402A-B8BA-7D6272C4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502152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La IA propone ruta, narrativa y paradas iniciales.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62CE99E-604F-438A-B6E3-D0AF6FAF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95928"/>
            <a:ext cx="1874519" cy="23317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5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3487d97b949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4087368"/>
            <a:ext cx="1691639" cy="1673352"/>
          </a:xfrm>
          <a:prstGeom xmlns:a="http://schemas.openxmlformats.org/drawingml/2006/main" prst="rect">
            <a:avLst/>
          </a:prstGeom>
        </p:spPr>
      </p:pic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51F46CAC-D0A9-4560-ACC1-6939DADF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87368"/>
            <a:ext cx="420624" cy="21945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BF3FF"/>
          </a:solidFill>
          <a:ln xmlns:a="http://schemas.openxmlformats.org/drawingml/2006/main" w="10160">
            <a:solidFill>
              <a:srgbClr val="EB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A827386-8FC0-40E3-82DC-22DB9113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377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5B553FB-7E02-4604-A40D-69C2E37A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15584"/>
            <a:ext cx="1691639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Constructor de ruta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53691D6-0995-41E6-922A-C1DA4838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016752"/>
            <a:ext cx="16916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Añade, quita o reemplaza paradas y ajustes.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A3ABACD9-1AB1-47DB-91BD-67D8A091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3995928"/>
            <a:ext cx="1874519" cy="23317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1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e649c0cfd44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4328" y="4087368"/>
            <a:ext cx="1691639" cy="1673352"/>
          </a:xfrm>
          <a:prstGeom xmlns:a="http://schemas.openxmlformats.org/drawingml/2006/main" prst="rect">
            <a:avLst/>
          </a:prstGeom>
        </p:spPr>
      </p:pic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A68A1503-5F60-4F46-AE77-331AFD84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4087368"/>
            <a:ext cx="420624" cy="21945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BF3FF"/>
          </a:solidFill>
          <a:ln xmlns:a="http://schemas.openxmlformats.org/drawingml/2006/main" w="10160">
            <a:solidFill>
              <a:srgbClr val="EB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6D99D63-47EA-46F6-8992-DB91885E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4114800"/>
            <a:ext cx="2377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37CE8C2-EA38-42BB-AD49-B6AD96BB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5815584"/>
            <a:ext cx="1691639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Live Tour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603856DE-EB5D-41A1-9C04-FC9A0B74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6016752"/>
            <a:ext cx="16916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Mapa, GPS, galería y experiencia guiada.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A32CE64-B9E5-462E-8D45-4AA31EC6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995928"/>
            <a:ext cx="1755648" cy="23317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7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fa8f2e5c24a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54296" y="4087368"/>
            <a:ext cx="1572768" cy="1673352"/>
          </a:xfrm>
          <a:prstGeom xmlns:a="http://schemas.openxmlformats.org/drawingml/2006/main" prst="rect">
            <a:avLst/>
          </a:prstGeom>
        </p:spPr>
      </p:pic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B5CCB578-B955-4E6E-882D-66800E24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4087368"/>
            <a:ext cx="420624" cy="21945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BF3FF"/>
          </a:solidFill>
          <a:ln xmlns:a="http://schemas.openxmlformats.org/drawingml/2006/main" w="10160">
            <a:solidFill>
              <a:srgbClr val="EB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5AF505E3-71F3-486C-84D5-4492B664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4114800"/>
            <a:ext cx="2377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6CF08DED-399C-473A-9965-EC4B6CBD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5815584"/>
            <a:ext cx="157276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25C9853-247B-4999-9062-FB7D4A3C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6016752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Creador manual, PQRS, moderación y métricas.</a:t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EF99BE8C-3C80-4609-95E4-273EE5C7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81328"/>
            <a:ext cx="5349240" cy="11704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13E9E190-608C-40A5-B46A-CAA83EE3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645920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36D42E5E-6C08-40CD-AFD7-70104EA3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1591056"/>
            <a:ext cx="4800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Planificación de punta a punta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11285B47-9ABF-408C-820A-E88C5C4F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874520"/>
            <a:ext cx="50383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Sugerencias de destinos y hoteles.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Itinerarios desde una conversación natural.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CF25C703-D676-43E2-BB4D-B6A9EB41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98064"/>
            <a:ext cx="5349240" cy="131673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3E42A8CA-4695-4455-A4D0-E9FBF299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96265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E4070F2-8556-43F0-B9F4-BCC0B48D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907792"/>
            <a:ext cx="4800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Experiencia en sitio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4823D9DF-605A-4E2C-AAC4-92022FA6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3191256"/>
            <a:ext cx="503834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Mapa, GPS y locución TTS por parada.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Geolocalización y búsquedas reales.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Modo demo y soporte bilingüe ES/EN.</a:t>
            </a:r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A0F84C39-6921-452B-ACB5-FF4DDB43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79392"/>
            <a:ext cx="5349240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8E8CA7C3-7729-4E97-A5B8-93094C36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44398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52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34B30A00-9BCE-4A5F-99FA-D4BF9064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389120"/>
            <a:ext cx="4800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2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Escalabilidad operativa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9F516A45-EDF6-46AA-8BE8-5ABDB72C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672584"/>
            <a:ext cx="5038344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Creador manual para guías locales.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PQRS con historial y trazabilidad.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919">
                <a:solidFill>
                  <a:srgbClr val="60667A"/>
                </a:solidFill>
                <a:latin typeface="Aptos"/>
                <a:ea typeface="Aptos"/>
                <a:cs typeface="Aptos"/>
              </a:rPr>
              <a:t>Panel admin para gestión y métricas.</a:t>
            </a:r>
          </a:p>
        </p:txBody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B59C853E-2110-4D0D-AECA-0113B4A6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797296"/>
            <a:ext cx="2596896" cy="7315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5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409ff88204a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5664" y="5888736"/>
            <a:ext cx="969264" cy="530352"/>
          </a:xfrm>
          <a:prstGeom xmlns:a="http://schemas.openxmlformats.org/drawingml/2006/main" prst="rect">
            <a:avLst/>
          </a:prstGeom>
        </p:spPr>
      </p:pic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D53810C0-7253-44B1-94C5-B9DC3BDD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5925312"/>
            <a:ext cx="12252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Trazabilidad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A6A96F18-B8DC-4F2E-8D3D-F5F6778F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6108192"/>
            <a:ext cx="122529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Historial y seguimiento.</a:t>
            </a: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E9AEF318-9A53-4219-AD22-190E6FBA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5797296"/>
            <a:ext cx="2596896" cy="7315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9" name="Picture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f43c0dad847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8008" y="5888736"/>
            <a:ext cx="969264" cy="530352"/>
          </a:xfrm>
          <a:prstGeom xmlns:a="http://schemas.openxmlformats.org/drawingml/2006/main" prst="rect">
            <a:avLst/>
          </a:prstGeom>
        </p:spPr>
      </p:pic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F7F2733C-1D02-47AA-BA33-461F319C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25312"/>
            <a:ext cx="12252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7B341B84-4647-425C-BE9B-AE4C082B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08192"/>
            <a:ext cx="122529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Métricas y moderación.</a:t>
            </a:r>
          </a:p>
        </p:txBody>
      </p:sp>
    </p:spTree>
    <p:extLst>
      <p:ext uri="{BB962C8B-B14F-4D97-AF65-F5344CB8AC3E}">
        <p14:creationId xmlns:p14="http://schemas.microsoft.com/office/powerpoint/2010/main" val="1378906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475CFAC-3E15-44C2-985D-3DC978F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4753065-6579-4B06-8F5F-46FE41C8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7744"/>
            <a:ext cx="2148840" cy="31089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AF5"/>
          </a:solidFill>
          <a:ln xmlns:a="http://schemas.openxmlformats.org/drawingml/2006/main" w="10160">
            <a:solidFill>
              <a:srgbClr val="ECFA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B8E22A8-A578-4239-9CAC-385C0257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NEGOCIO Y CRECIMIENTO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1FCC12-25E5-4CBB-9CF1-E0FA1C1D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76656"/>
            <a:ext cx="5669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Negocio, límites y crecimiento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30CC0F1-1B6A-40F1-82C8-AEFBE197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05840"/>
            <a:ext cx="6400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Ingresos diversificados, dependencias transparentes y mejoras priorizadas.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EB010B4-2076-4083-A537-E44E9845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44752"/>
            <a:ext cx="3429000" cy="50749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6AA2BFF-1FFB-406B-8A3A-B65D83B3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591056"/>
            <a:ext cx="1444752" cy="2560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BF3FF"/>
          </a:solidFill>
          <a:ln xmlns:a="http://schemas.openxmlformats.org/drawingml/2006/main" w="10160">
            <a:solidFill>
              <a:srgbClr val="EB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4B4E525-1A26-41B4-B8FF-303C0403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618488"/>
            <a:ext cx="12618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MONETIZACIÓN</a:t>
            </a:r>
          </a:p>
        </p:txBody>
      </p:sp>
      <p:pic>
        <p:nvPicPr>
          <p:cNvPr id="5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e51c0fea74f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20240"/>
            <a:ext cx="1143000" cy="201168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21A06D7-81EA-4464-B269-86294CD2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18105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Premium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1EACB01-D008-4F5F-BDC8-DBE876D8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157984"/>
            <a:ext cx="182880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869">
                <a:solidFill>
                  <a:srgbClr val="60667A"/>
                </a:solidFill>
                <a:latin typeface="Aptos"/>
                <a:ea typeface="Aptos"/>
                <a:cs typeface="Aptos"/>
              </a:rPr>
              <a:t>Mapas offline.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869">
                <a:solidFill>
                  <a:srgbClr val="60667A"/>
                </a:solidFill>
                <a:latin typeface="Aptos"/>
                <a:ea typeface="Aptos"/>
                <a:cs typeface="Aptos"/>
              </a:rPr>
              <a:t>Más capacidad de IA.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869">
                <a:solidFill>
                  <a:srgbClr val="60667A"/>
                </a:solidFill>
                <a:latin typeface="Aptos"/>
                <a:ea typeface="Aptos"/>
                <a:cs typeface="Aptos"/>
              </a:rPr>
              <a:t>Voces y estilos exclusivos.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7AAB03C-5BD9-47C7-B150-19ABC45A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1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Ingresos complementarios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B9ECFC3-8053-47D9-BC90-449FC62F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315968"/>
            <a:ext cx="2999232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890">
                <a:solidFill>
                  <a:srgbClr val="60667A"/>
                </a:solidFill>
                <a:latin typeface="Aptos"/>
                <a:ea typeface="Aptos"/>
                <a:cs typeface="Aptos"/>
              </a:rPr>
              <a:t>Comisión por reservas y afiliaciones.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890">
                <a:solidFill>
                  <a:srgbClr val="60667A"/>
                </a:solidFill>
                <a:latin typeface="Aptos"/>
                <a:ea typeface="Aptos"/>
                <a:cs typeface="Aptos"/>
              </a:rPr>
              <a:t>Publicidad local contextual durante el tour.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890">
                <a:solidFill>
                  <a:srgbClr val="60667A"/>
                </a:solidFill>
                <a:latin typeface="Aptos"/>
                <a:ea typeface="Aptos"/>
                <a:cs typeface="Aptos"/>
              </a:rPr>
              <a:t>Marketplace de rutas de guías y creadores.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88CCF73-53BA-4A85-8A71-789057E9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1444752"/>
            <a:ext cx="3429000" cy="50749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85AFCA4-E5D1-4A98-AF31-60A2290F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1591056"/>
            <a:ext cx="1005840" cy="2560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10160">
            <a:solidFill>
              <a:srgbClr val="FFF5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A31FF7A-EC33-4DA4-8B34-7BA435E2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1618488"/>
            <a:ext cx="822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BA1A1A"/>
                </a:solidFill>
                <a:latin typeface="Aptos"/>
                <a:ea typeface="Aptos"/>
                <a:cs typeface="Aptos"/>
              </a:rPr>
              <a:t>LÍMITES</a:t>
            </a:r>
          </a:p>
        </p:txBody>
      </p:sp>
      <p:pic>
        <p:nvPicPr>
          <p:cNvPr id="61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95518aa3a4a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2816" y="1901952"/>
            <a:ext cx="1143000" cy="2011680"/>
          </a:xfrm>
          <a:prstGeom xmlns:a="http://schemas.openxmlformats.org/drawingml/2006/main" prst="rect">
            <a:avLst/>
          </a:prstGeom>
        </p:spPr>
      </p:pic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3507F13-243D-4315-82A1-3DAB9221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1938528"/>
            <a:ext cx="1783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Riesgos actuales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8C93367-950B-4D1C-BA0B-C4A0F849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2157984"/>
            <a:ext cx="1847088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869">
                <a:solidFill>
                  <a:srgbClr val="60667A"/>
                </a:solidFill>
                <a:latin typeface="Aptos"/>
                <a:ea typeface="Aptos"/>
                <a:cs typeface="Aptos"/>
              </a:rPr>
              <a:t>Imágenes y POIs remotos pueden no tener cobertura.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869">
                <a:solidFill>
                  <a:srgbClr val="60667A"/>
                </a:solidFill>
                <a:latin typeface="Aptos"/>
                <a:ea typeface="Aptos"/>
                <a:cs typeface="Aptos"/>
              </a:rPr>
              <a:t>Islas y ubicaciones precisas dependen de servicios externos.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43CFC00-D155-413A-973E-53701A1B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4151376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10" b="1">
                <a:solidFill>
                  <a:srgbClr val="161924"/>
                </a:solidFill>
                <a:latin typeface="Aptos"/>
                <a:ea typeface="Aptos"/>
                <a:cs typeface="Aptos"/>
              </a:rPr>
              <a:t>Prioridad técnica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2C1C31F-2DD3-4F14-B244-73D6E254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4370832"/>
            <a:ext cx="2999232" cy="1426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890">
                <a:solidFill>
                  <a:srgbClr val="60667A"/>
                </a:solidFill>
                <a:latin typeface="Aptos"/>
                <a:ea typeface="Aptos"/>
                <a:cs typeface="Aptos"/>
              </a:rPr>
              <a:t>Integrar mejor mapas y datos geográficos.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890">
                <a:solidFill>
                  <a:srgbClr val="60667A"/>
                </a:solidFill>
                <a:latin typeface="Aptos"/>
                <a:ea typeface="Aptos"/>
                <a:cs typeface="Aptos"/>
              </a:rPr>
              <a:t>Resolver rutas tierra-agua.</a:t>
            </a:r>
          </a:p>
          <a:p xmlns:a="http://schemas.openxmlformats.org/drawingml/2006/main">
            <a:pPr>
              <a:lnSpc>
                <a:spcPct val="100000"/>
              </a:lnSpc>
              <a:spcAft>
                <a:spcPts val="50"/>
              </a:spcAft>
              <a:buNone/>
            </a:pPr>
            <a:r>
              <a:rPr sz="890">
                <a:solidFill>
                  <a:srgbClr val="60667A"/>
                </a:solidFill>
                <a:latin typeface="Aptos"/>
                <a:ea typeface="Aptos"/>
                <a:cs typeface="Aptos"/>
              </a:rPr>
              <a:t>Generar imágenes IA sin fotos disponibles.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B2A23705-CF6F-41BB-A773-53EE87CA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7" y="1444752"/>
            <a:ext cx="3429000" cy="50749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01D7435-CC8C-43A7-A19A-3755D12A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19" y="1591056"/>
            <a:ext cx="1078992" cy="2560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AF5"/>
          </a:solidFill>
          <a:ln xmlns:a="http://schemas.openxmlformats.org/drawingml/2006/main" w="10160">
            <a:solidFill>
              <a:srgbClr val="ECFA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F0A8DA2-63D1-4E45-8294-C07E4C27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59" y="1618488"/>
            <a:ext cx="8961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BCC3775A-AAD5-48B6-A219-4AC42713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19" y="1901952"/>
            <a:ext cx="3063240" cy="4937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BF3FF"/>
          </a:solidFill>
          <a:ln xmlns:a="http://schemas.openxmlformats.org/drawingml/2006/main" w="10160">
            <a:solidFill>
              <a:srgbClr val="EB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9D2EFA4-7757-4B24-9BF3-C194C96B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3" y="2011680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9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Mapas offline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50ED7E0-B550-46DE-9684-EC45357F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7" y="2011680"/>
            <a:ext cx="13167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9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Navegación sin datos.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68534E2F-DA62-4BD3-8CD9-FFFC988D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19" y="2523744"/>
            <a:ext cx="3063240" cy="4937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AF5"/>
          </a:solidFill>
          <a:ln xmlns:a="http://schemas.openxmlformats.org/drawingml/2006/main" w="10160">
            <a:solidFill>
              <a:srgbClr val="ECFA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2A90AB0-CD08-4960-B1D3-CEE9596D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3" y="2633472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9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Rutas tierra + agua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0CC070D-EF5C-446A-A3BE-ED1897FA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7" y="2633472"/>
            <a:ext cx="13167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9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Conexión para islas.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35A682E1-A925-4F6F-9E42-C7645238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19" y="3145536"/>
            <a:ext cx="3063240" cy="4937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EDFC"/>
          </a:solidFill>
          <a:ln xmlns:a="http://schemas.openxmlformats.org/drawingml/2006/main" w="10160">
            <a:solidFill>
              <a:srgbClr val="F5EDF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525C23B-1589-43FA-84BC-FFE35F10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3" y="3255264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90" b="1">
                <a:solidFill>
                  <a:srgbClr val="AF52DE"/>
                </a:solidFill>
                <a:latin typeface="Aptos"/>
                <a:ea typeface="Aptos"/>
                <a:cs typeface="Aptos"/>
              </a:rPr>
              <a:t>Portadas IA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FCE81AD-846C-4CCD-9E7B-AFEE131C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7" y="3255264"/>
            <a:ext cx="13167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9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Visuales sin fotos libres.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C4F02172-3985-4C8A-9A6A-E0540A61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19" y="3767328"/>
            <a:ext cx="3063240" cy="4937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FF7E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FDB4AE13-7CD7-495E-AA11-BBC5F310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3" y="3877056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9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Comunidad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7A6BB7AE-4374-4839-92DB-0ACBAC0E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7" y="3877056"/>
            <a:ext cx="1316736" cy="240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9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Logros y recorridos compartidos.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973422EF-4BFA-42D6-8C10-C64BD768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19" y="4389120"/>
            <a:ext cx="3063240" cy="4937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BF3FF"/>
          </a:solidFill>
          <a:ln xmlns:a="http://schemas.openxmlformats.org/drawingml/2006/main" w="10160">
            <a:solidFill>
              <a:srgbClr val="EB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030BF9F-F56D-433E-BBC6-2126EC4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3" y="4498848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9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Audio de creadores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DA9085F8-9294-4767-9D26-95C7D06D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7" y="4498848"/>
            <a:ext cx="13167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9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Narraciones propias de guías.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9EB3D999-DB6E-4F3F-A8BD-5B76D41C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19088"/>
            <a:ext cx="11183112" cy="21945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DF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F92B320-CA9C-47FB-8FAF-CBD42B10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55664"/>
            <a:ext cx="10744200" cy="129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60667A"/>
                </a:solidFill>
                <a:latin typeface="Aptos"/>
                <a:ea typeface="Aptos"/>
                <a:cs typeface="Aptos"/>
              </a:rPr>
              <a:t>VibeTours une monetización, cobertura y creadores locales para crecer como plataforma turística.</a:t>
            </a:r>
          </a:p>
        </p:txBody>
      </p:sp>
    </p:spTree>
    <p:extLst>
      <p:ext uri="{BB962C8B-B14F-4D97-AF65-F5344CB8AC3E}">
        <p14:creationId xmlns:p14="http://schemas.microsoft.com/office/powerpoint/2010/main" val="21325444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2026-07-21T15:51:26.3030000Z</dcterms:created>
  <dcterms:modified xsi:type="dcterms:W3CDTF">2026-07-21T15:51:26.3030000Z</dcterms:modified>
</coreProperties>
</file>